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7D7CD-14F5-40F1-9309-088D8DE3C4D4}" v="39" dt="2026-04-09T11:52:33.052"/>
    <p1510:client id="{7C056402-DE99-487F-ADED-B5EF128B4D9C}" v="1" dt="2026-04-09T13:07:42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9FE78-B07D-4357-B76A-1C1D8C17B67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465AF-1A6C-4F1D-80DF-E46D9D45AB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94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465AF-1A6C-4F1D-80DF-E46D9D45ABE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329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465AF-1A6C-4F1D-80DF-E46D9D45ABE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717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87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33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11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36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114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939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37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831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584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8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706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81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045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461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744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162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73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8B97A54-ED39-4999-9647-EBCC66EEEA0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D9481DC-707C-4512-95E8-817704D2A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204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7CFD-5810-A0AB-21DD-5FD65CB45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1346" y="1413165"/>
            <a:ext cx="6359236" cy="1661646"/>
          </a:xfrm>
        </p:spPr>
        <p:txBody>
          <a:bodyPr/>
          <a:lstStyle/>
          <a:p>
            <a:r>
              <a:rPr lang="en-US" sz="4000" b="1" dirty="0">
                <a:effectLst>
                  <a:outerShdw blurRad="38100" dist="457200" dir="5400000" sx="81000" sy="81000" algn="ctr" rotWithShape="0">
                    <a:srgbClr val="000000">
                      <a:alpha val="21000"/>
                    </a:srgbClr>
                  </a:outerShdw>
                </a:effectLst>
                <a:latin typeface="Arial Rounded MT Bold" panose="020F0704030504030204" pitchFamily="34" charset="0"/>
              </a:rPr>
              <a:t>Business Insights From </a:t>
            </a:r>
            <a:br>
              <a:rPr lang="en-US" sz="4000" b="1" dirty="0">
                <a:effectLst>
                  <a:outerShdw blurRad="38100" dist="457200" dir="5400000" sx="81000" sy="81000" algn="ctr" rotWithShape="0">
                    <a:srgbClr val="000000">
                      <a:alpha val="21000"/>
                    </a:srgbClr>
                  </a:outerShdw>
                </a:effectLst>
                <a:latin typeface="Arial Rounded MT Bold" panose="020F0704030504030204" pitchFamily="34" charset="0"/>
              </a:rPr>
            </a:br>
            <a:r>
              <a:rPr lang="en-US" sz="4000" b="1" dirty="0">
                <a:effectLst>
                  <a:outerShdw blurRad="38100" dist="457200" dir="5400000" sx="81000" sy="81000" algn="ctr" rotWithShape="0">
                    <a:srgbClr val="000000">
                      <a:alpha val="21000"/>
                    </a:srgbClr>
                  </a:outerShdw>
                </a:effectLst>
                <a:latin typeface="Arial Rounded MT Bold" panose="020F0704030504030204" pitchFamily="34" charset="0"/>
              </a:rPr>
              <a:t>Netflix Content Data</a:t>
            </a:r>
            <a:endParaRPr lang="en-IN" sz="4000" b="1" dirty="0">
              <a:effectLst>
                <a:outerShdw blurRad="38100" dist="457200" dir="5400000" sx="81000" sy="81000" algn="ctr" rotWithShape="0">
                  <a:srgbClr val="000000">
                    <a:alpha val="21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0D94C-AA6F-9F08-685F-84D944B44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9976981">
            <a:off x="-798882" y="3512311"/>
            <a:ext cx="13251498" cy="1366751"/>
          </a:xfrm>
        </p:spPr>
        <p:txBody>
          <a:bodyPr>
            <a:noAutofit/>
            <a:scene3d>
              <a:camera prst="orthographicFront">
                <a:rot lat="0" lon="19799958" rev="0"/>
              </a:camera>
              <a:lightRig rig="threePt" dir="t"/>
            </a:scene3d>
          </a:bodyPr>
          <a:lstStyle/>
          <a:p>
            <a:r>
              <a:rPr lang="en-US" sz="7200" dirty="0">
                <a:solidFill>
                  <a:schemeClr val="bg2">
                    <a:alpha val="67000"/>
                  </a:schemeClr>
                </a:solidFill>
                <a:effectLst/>
              </a:rPr>
              <a:t>Nancy Gupta</a:t>
            </a:r>
            <a:endParaRPr lang="en-IN" sz="7200" dirty="0">
              <a:solidFill>
                <a:schemeClr val="bg2">
                  <a:alpha val="67000"/>
                </a:schemeClr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804375-6076-86E1-B685-0D108370BA50}"/>
              </a:ext>
            </a:extLst>
          </p:cNvPr>
          <p:cNvSpPr txBox="1"/>
          <p:nvPr/>
        </p:nvSpPr>
        <p:spPr>
          <a:xfrm>
            <a:off x="6328064" y="4819145"/>
            <a:ext cx="3636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Python | SQL | 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FEF7F7-E6F9-A20E-0479-D99E3F123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138" y="1704876"/>
            <a:ext cx="1098554" cy="7265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37039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E436C-4B67-8D01-081C-D0904863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90" y="654628"/>
            <a:ext cx="9601196" cy="1392382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r>
              <a:rPr lang="en-US" sz="5400" b="1" dirty="0">
                <a:solidFill>
                  <a:srgbClr val="0070C0"/>
                </a:solidFill>
                <a:effectLst>
                  <a:outerShdw blurRad="50800" dist="660400" dir="5400000" sx="80000" sy="80000" algn="ctr" rotWithShape="0">
                    <a:srgbClr val="000000">
                      <a:alpha val="21000"/>
                    </a:srgbClr>
                  </a:outerShdw>
                </a:effectLst>
                <a:latin typeface="Arial Rounded MT Bold" panose="020F0704030504030204" pitchFamily="34" charset="0"/>
              </a:rPr>
              <a:t>Executive Summary</a:t>
            </a:r>
            <a:endParaRPr lang="en-IN" sz="5400" b="1" dirty="0">
              <a:solidFill>
                <a:srgbClr val="0070C0"/>
              </a:solidFill>
              <a:effectLst>
                <a:outerShdw blurRad="50800" dist="660400" dir="5400000" sx="80000" sy="80000" algn="ctr" rotWithShape="0">
                  <a:srgbClr val="000000">
                    <a:alpha val="21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019ABD-9A67-BB61-347E-9568E0054B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7695" y="2411449"/>
            <a:ext cx="10094768" cy="228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Analysis of Netflix content dataset to uncover global distribution patterns, content trends, and audience focus.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Platform is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heavily movie-driven (~69%)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with TV Shows contributing a smaller share.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Content is primarily targeted toward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mature audiences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with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TV-MA as the dominant rating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Strong content growth observed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after 2015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peaking around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2019–2020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United States leads content production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followed by India and the United Kingdom.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D70BF-087C-D947-262F-C8ED57A51877}"/>
              </a:ext>
            </a:extLst>
          </p:cNvPr>
          <p:cNvSpPr txBox="1"/>
          <p:nvPr/>
        </p:nvSpPr>
        <p:spPr>
          <a:xfrm>
            <a:off x="962893" y="4695151"/>
            <a:ext cx="10602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Increase investment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TV Show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 to improve long-term user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Expand content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production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emerging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underrepresented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regions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strengthen global presence.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Diversify content ratings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attract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broader audience base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F9F1E-092A-416D-6F4F-674DAC29ECFD}"/>
              </a:ext>
            </a:extLst>
          </p:cNvPr>
          <p:cNvSpPr txBox="1"/>
          <p:nvPr/>
        </p:nvSpPr>
        <p:spPr>
          <a:xfrm rot="19991812">
            <a:off x="3179525" y="2563784"/>
            <a:ext cx="76916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2">
                    <a:alpha val="67000"/>
                  </a:schemeClr>
                </a:solidFill>
                <a:effectLst/>
              </a:rPr>
              <a:t>Nancy Gupta</a:t>
            </a:r>
            <a:endParaRPr lang="en-IN" sz="7200" dirty="0">
              <a:solidFill>
                <a:schemeClr val="bg2">
                  <a:alpha val="67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1431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81FC-B85F-1BAE-092D-D20773BCA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60968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effectLst>
                  <a:outerShdw blurRad="50800" dist="774700" dir="5400000" sx="80000" sy="80000" algn="ctr" rotWithShape="0">
                    <a:srgbClr val="000000">
                      <a:alpha val="21000"/>
                    </a:srgbClr>
                  </a:outerShdw>
                </a:effectLst>
                <a:latin typeface="Arial Rounded MT Bold" panose="020F0704030504030204" pitchFamily="34" charset="0"/>
              </a:rPr>
              <a:t>Content Growth Trends Over Time</a:t>
            </a:r>
            <a:endParaRPr lang="en-IN" b="1" dirty="0">
              <a:solidFill>
                <a:srgbClr val="0070C0"/>
              </a:solidFill>
              <a:effectLst>
                <a:outerShdw blurRad="50800" dist="774700" dir="5400000" sx="80000" sy="80000" algn="ctr" rotWithShape="0">
                  <a:srgbClr val="000000">
                    <a:alpha val="21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F6EE5F-8195-2454-4043-B4F535B314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701" y="2637594"/>
            <a:ext cx="5661737" cy="26102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60BFD-60F2-2381-BDEF-7944986DFE4B}"/>
              </a:ext>
            </a:extLst>
          </p:cNvPr>
          <p:cNvSpPr txBox="1"/>
          <p:nvPr/>
        </p:nvSpPr>
        <p:spPr>
          <a:xfrm>
            <a:off x="1028701" y="2644213"/>
            <a:ext cx="767888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Content additions remained negligible before 2015.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Rapid acceleration observed post-2015, </a:t>
            </a:r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peaking </a:t>
            </a:r>
          </a:p>
          <a:p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around 2019–2020.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Trend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Strong expansion phase </a:t>
            </a:r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 2016–2020.</a:t>
            </a:r>
            <a:b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Reflects an aggressive </a:t>
            </a:r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scaling strategy.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Netflix </a:t>
            </a:r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rapidly increased content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 attract and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retain a larger audience.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Post-2020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decline indicates a transition toward</a:t>
            </a:r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more </a:t>
            </a:r>
          </a:p>
          <a:p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selective content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investment.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Business Implication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Shift in growth pattern indicates transition from expansion to optimization phase.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18EBED-1F14-935D-9014-1B40D2C5D264}"/>
              </a:ext>
            </a:extLst>
          </p:cNvPr>
          <p:cNvSpPr txBox="1"/>
          <p:nvPr/>
        </p:nvSpPr>
        <p:spPr>
          <a:xfrm rot="20330039">
            <a:off x="805155" y="3053926"/>
            <a:ext cx="63772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2">
                    <a:alpha val="67000"/>
                  </a:schemeClr>
                </a:solidFill>
                <a:effectLst/>
              </a:rPr>
              <a:t>Nancy Gupta</a:t>
            </a:r>
            <a:endParaRPr lang="en-IN" sz="7200" dirty="0">
              <a:solidFill>
                <a:schemeClr val="bg2">
                  <a:alpha val="67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21438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09F2F-8CF3-6940-766E-ED9BDB6D8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92" y="660014"/>
            <a:ext cx="11485416" cy="130386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70C0"/>
                </a:solidFill>
                <a:effectLst>
                  <a:outerShdw blurRad="50800" dist="812800" dir="5400000" sx="80000" sy="80000" algn="ctr" rotWithShape="0">
                    <a:srgbClr val="000000">
                      <a:alpha val="21000"/>
                    </a:srgbClr>
                  </a:outerShdw>
                </a:effectLst>
                <a:latin typeface="Arial Rounded MT Bold" panose="020F0704030504030204" pitchFamily="34" charset="0"/>
              </a:rPr>
              <a:t>Content Distribution &amp; Engagement Impact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3F1C91-B3EF-BF12-5C61-D0AD2DD37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33410" y="2743201"/>
            <a:ext cx="3637024" cy="24003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20AB7C-4A16-A4B9-85B1-15BAE5D77DB8}"/>
              </a:ext>
            </a:extLst>
          </p:cNvPr>
          <p:cNvSpPr txBox="1"/>
          <p:nvPr/>
        </p:nvSpPr>
        <p:spPr>
          <a:xfrm>
            <a:off x="1021566" y="2558180"/>
            <a:ext cx="64287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The content library is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heavily skewed toward movies (~69%),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indicating a film-dominant strategy.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This imbalance suggests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emphasis on long-format content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which is key for sustained engagement.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TV Shows, with multi-episode structures, offer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potential for continuous watch time and retention.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A more balanced content mix could strengthen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engagement and platform stickiness.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A50288-31A2-2041-6F6E-E85C5BCBB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222" y="1916256"/>
            <a:ext cx="6895174" cy="40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21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86134-8F9D-70D3-228C-068D54E9D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74969"/>
            <a:ext cx="9601196" cy="1303867"/>
          </a:xfrm>
        </p:spPr>
        <p:txBody>
          <a:bodyPr/>
          <a:lstStyle/>
          <a:p>
            <a:r>
              <a:rPr lang="en-IN" b="1" dirty="0">
                <a:solidFill>
                  <a:srgbClr val="0070C0"/>
                </a:solidFill>
                <a:effectLst>
                  <a:outerShdw blurRad="50800" dist="850900" dir="5400000" sx="74000" sy="74000" algn="ctr" rotWithShape="0">
                    <a:srgbClr val="000000">
                      <a:alpha val="21000"/>
                    </a:srgbClr>
                  </a:outerShdw>
                </a:effectLst>
                <a:latin typeface="Arial Rounded MT Bold" panose="020F0704030504030204" pitchFamily="34" charset="0"/>
              </a:rPr>
              <a:t>Content Ratings &amp; Audience Focus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08F2EC-DBDB-6868-7DD9-422FD91AE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1849" y="2732809"/>
            <a:ext cx="3748769" cy="29077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5AE8B2-9A6E-AFC4-B79D-B5ADAE52647B}"/>
              </a:ext>
            </a:extLst>
          </p:cNvPr>
          <p:cNvSpPr txBox="1"/>
          <p:nvPr/>
        </p:nvSpPr>
        <p:spPr>
          <a:xfrm>
            <a:off x="1091046" y="2528729"/>
            <a:ext cx="654627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The platform is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heavily oriented toward mature audiences,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TV-MA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dominating the content ratings.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Lower representation of family-friendly ratings indicates a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narrower audience focus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This suggests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strategic emphasis on adult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young-adult viewers.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Expanding content across varied rating categories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could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 audience diversity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reach.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09E506-C5E9-9558-E1DE-9EC7B1E6F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958" y="1714501"/>
            <a:ext cx="6895174" cy="403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508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F18B-3C0A-FDD6-6312-421A01729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9" y="593749"/>
            <a:ext cx="11547762" cy="130386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70C0"/>
                </a:solidFill>
                <a:effectLst>
                  <a:outerShdw blurRad="50800" dist="863600" dir="5400000" sx="79000" sy="79000" algn="ctr" rotWithShape="0">
                    <a:srgbClr val="000000">
                      <a:alpha val="21000"/>
                    </a:srgbClr>
                  </a:outerShdw>
                </a:effectLst>
                <a:latin typeface="Arial Rounded MT Bold" panose="020F0704030504030204" pitchFamily="34" charset="0"/>
              </a:rPr>
              <a:t>Global Content Distribution &amp; Market Reach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509B1-BDB6-6F65-A0F0-2758595C1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122" y="2553816"/>
            <a:ext cx="6941762" cy="3462520"/>
          </a:xfrm>
        </p:spPr>
        <p:txBody>
          <a:bodyPr>
            <a:no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Content production is </a:t>
            </a:r>
            <a:r>
              <a:rPr lang="en-US" sz="1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strongly concentrated in a few dominant markets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led by the </a:t>
            </a:r>
            <a:r>
              <a:rPr lang="en-US" sz="1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United States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with India and the United Kingdom as key contributors.</a:t>
            </a:r>
          </a:p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While global presence exists, the distribution reflects a </a:t>
            </a:r>
            <a:r>
              <a:rPr lang="en-US" sz="1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moderate level of diversification</a:t>
            </a:r>
            <a:r>
              <a:rPr lang="en-US" sz="15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with emerging regions like </a:t>
            </a:r>
            <a:r>
              <a:rPr lang="en-US" sz="1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South Korea gaining visibility.</a:t>
            </a:r>
            <a:endParaRPr lang="en-US" sz="15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This indicates a gradual shift toward </a:t>
            </a:r>
            <a:r>
              <a:rPr lang="en-US" sz="1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localized and culturally diverse content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aimed at expanding international audience reach.</a:t>
            </a:r>
          </a:p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However, continued concentration in major markets suggests </a:t>
            </a:r>
            <a:r>
              <a:rPr lang="en-US" sz="1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untapped potential in underrepresented regions.</a:t>
            </a:r>
          </a:p>
          <a:p>
            <a:pPr marL="0" indent="0">
              <a:buNone/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Business Implication</a:t>
            </a:r>
          </a:p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5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Expanding content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in emerging markets can increase global reach and </a:t>
            </a:r>
            <a:r>
              <a:rPr lang="en-US" sz="15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  dependence on a few dominant regions.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A95D3-F323-8F66-BB24-3ACCEEC9C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271" y="2442004"/>
            <a:ext cx="3581401" cy="1940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9C907C-51D6-7376-02E1-9CD17E65B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271" y="4424089"/>
            <a:ext cx="3581401" cy="18002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02E0C2-B4EE-C8F2-6837-A5CB0E517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0822" y="1634065"/>
            <a:ext cx="6895174" cy="403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08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00AF-DA51-0A7A-1ADB-8445F26EB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666446"/>
            <a:ext cx="9601196" cy="1303867"/>
          </a:xfrm>
        </p:spPr>
        <p:txBody>
          <a:bodyPr/>
          <a:lstStyle/>
          <a:p>
            <a:r>
              <a:rPr lang="en-IN" b="1" dirty="0">
                <a:solidFill>
                  <a:srgbClr val="0070C0"/>
                </a:solidFill>
                <a:effectLst>
                  <a:outerShdw blurRad="50800" dist="850900" dir="6000000" sx="80000" sy="80000" algn="ctr" rotWithShape="0">
                    <a:srgbClr val="000000">
                      <a:alpha val="21000"/>
                    </a:srgbClr>
                  </a:outerShdw>
                </a:effectLst>
                <a:latin typeface="Arial Rounded MT Bold" panose="020F0704030504030204" pitchFamily="34" charset="0"/>
              </a:rPr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E9EBF-D719-503D-AB02-F27E6CD5C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Transition from rapid content expansion to a more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quality-focused strategy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sustain long-term growth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Rebalance the content mix by increasing focus on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TV Show content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improve user engagement and retention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Expand content across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diverse rating categories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attract a broader audience beyond mature viewers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Strengthen investment in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emerging and underrepresented markets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enhance global reach and reduce regional concentration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20ED7A-8748-4782-882A-41C260F1D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504" y="1665238"/>
            <a:ext cx="6895174" cy="403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6085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432</TotalTime>
  <Words>529</Words>
  <Application>Microsoft Office PowerPoint</Application>
  <PresentationFormat>Widescreen</PresentationFormat>
  <Paragraphs>53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Arial Rounded MT Bold</vt:lpstr>
      <vt:lpstr>Garamond</vt:lpstr>
      <vt:lpstr>Organic</vt:lpstr>
      <vt:lpstr>Business Insights From  Netflix Content Data</vt:lpstr>
      <vt:lpstr>Executive Summary</vt:lpstr>
      <vt:lpstr>Content Growth Trends Over Time</vt:lpstr>
      <vt:lpstr>Content Distribution &amp; Engagement Impact</vt:lpstr>
      <vt:lpstr>Content Ratings &amp; Audience Focus</vt:lpstr>
      <vt:lpstr>Global Content Distribution &amp; Market Reach</vt:lpstr>
      <vt:lpstr>Strategic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 Gupta</dc:creator>
  <cp:lastModifiedBy>Shruti Gupta</cp:lastModifiedBy>
  <cp:revision>1</cp:revision>
  <dcterms:created xsi:type="dcterms:W3CDTF">2026-04-06T15:40:12Z</dcterms:created>
  <dcterms:modified xsi:type="dcterms:W3CDTF">2026-04-09T13:07:51Z</dcterms:modified>
</cp:coreProperties>
</file>